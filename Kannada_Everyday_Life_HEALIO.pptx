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28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  <a:latin typeface="Nirmala UI"/>
              </a:defRPr>
            </a:pPr>
            <a:r>
              <a:t>ಹೀಲಿಯೋ (HEALIO) — ಕನ್ನಡ ದೈನಂದಿನ ಜೀವನದಲ್ಲಿ • ಕೈಮುಕ್ತ ಆಸ್ಪತ್ರೆ ಸೇವೆ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922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Nirmala UI"/>
              </a:defRPr>
            </a:pPr>
            <a:r>
              <a:t>👑 ಸಿರಿಗನ್ನಡಂ ಗೆಲ್ಗೆ, ಸಿರಿಗನ್ನಡಂ ಬಾಳ್ಗೆ! 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Nirmala UI"/>
              </a:defRPr>
            </a:pPr>
            <a:r>
              <a:t>ಪುಟ 1 /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005840"/>
            <a:ext cx="9997135" cy="5120640"/>
          </a:xfrm>
          <a:prstGeom prst="roundRect">
            <a:avLst/>
          </a:prstGeom>
          <a:solidFill>
            <a:srgbClr val="16213E"/>
          </a:solidFill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31920" y="1280160"/>
            <a:ext cx="4297680" cy="411480"/>
          </a:xfrm>
          <a:prstGeom prst="roundRect">
            <a:avLst/>
          </a:prstGeom>
          <a:solidFill>
            <a:srgbClr val="B91C1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EF08A"/>
                </a:solidFill>
                <a:latin typeface="Nirmala UI"/>
              </a:defRPr>
            </a:pPr>
            <a:r>
              <a:t>✨ ಕರ್ನಾಟಕ ರಾಜ್ಯ ನಾವೀನ್ಯತೆ • ೧೦೦% ಕನ್ನಡ ಆವೃತ್ತಿ 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828800"/>
            <a:ext cx="94484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  <a:latin typeface="Nirmala UI"/>
              </a:defRPr>
            </a:pPr>
            <a:r>
              <a:t>ಹೀಲಿಯೋ (HEALIO)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9748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Nirmala UI"/>
              </a:defRPr>
            </a:pPr>
            <a:r>
              <a:t>ಕನ್ನಡ ದೈನಂದಿನ ಜೀವನದಲ್ಲಿ — ಕೈಮುಕ್ತ ಆಸ್ಪತ್ರೆ ಸೇವೆ ಮತ್ತು ನೈಜ ಕನ್ನಡ ಕಲಿಕಾ ವ್ಯವಸ್ಥೆ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429000"/>
            <a:ext cx="8899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CBD5E1"/>
                </a:solidFill>
                <a:latin typeface="Nirmala UI"/>
              </a:defRPr>
            </a:pPr>
            <a:r>
              <a:t>ಆರೋಗ್ಯ, ಕೃತಕ ಬುದ್ಧಿಮತ್ತೆ (AI) ಮತ್ತು ಕನ್ನಡ ಭಾಷೆಯ ಸಾರ್ಥಕ ಸಂಗಮ.</a:t>
            </a:r>
            <a:br/>
            <a:r>
              <a:t>ಯಾವುದೇ ಟೈಪಿಂಗ್ ಇಲ್ಲದೆ ಮಾತು, ಕಣ್ಣು ನೋಟ ಹಾಗೂ ಸ್ಪರ್ಶದ ಮೂಲಕ ಪ್ರತಿಯೊಬ್ಬ ಕನ್ನಡಿಗನಿಗೂ ಸಮಾನ ಆರೋಗ್ಯ ಸೌಲಭ್ಯ.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0" y="4389120"/>
            <a:ext cx="2788920" cy="1097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5EEAD4"/>
                </a:solidFill>
                <a:latin typeface="Nirmala UI"/>
              </a:defRPr>
            </a:pPr>
            <a:r>
              <a:t>🎙️ ಧ್ವನಿ ಆಧಾರಿತ ಬುಕಿಂಗ್</a:t>
            </a:r>
          </a:p>
          <a:p>
            <a:pPr algn="ctr">
              <a:defRPr sz="1200">
                <a:solidFill>
                  <a:srgbClr val="CBD5E1"/>
                </a:solidFill>
                <a:latin typeface="Nirmala UI"/>
              </a:defRPr>
            </a:pPr>
            <a:r>
              <a:t>ಕನ್ನಡ ಮಾತಿನಿಂದ ನೇರ ಬುಕಿಂಗ್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4389120"/>
            <a:ext cx="2788920" cy="1097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5EEAD4"/>
                </a:solidFill>
                <a:latin typeface="Nirmala UI"/>
              </a:defRPr>
            </a:pPr>
            <a:r>
              <a:t>👁️ ಕಣ್ಣು ನೋಟ ವಿಧಾನ</a:t>
            </a:r>
          </a:p>
          <a:p>
            <a:pPr algn="ctr">
              <a:defRPr sz="1200">
                <a:solidFill>
                  <a:srgbClr val="CBD5E1"/>
                </a:solidFill>
                <a:latin typeface="Nirmala UI"/>
              </a:defRPr>
            </a:pPr>
            <a:r>
              <a:t>೧.೨ ಸೆಕೆಂಡ್ SVG Dwell ಟೈಮರ್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4389120"/>
            <a:ext cx="2788920" cy="1097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5EEAD4"/>
                </a:solidFill>
                <a:latin typeface="Nirmala UI"/>
              </a:defRPr>
            </a:pPr>
            <a:r>
              <a:t>🎓 ದೈನಂದಿನ ಕನ್ನಡ ಸಂಗಾತಿ</a:t>
            </a:r>
          </a:p>
          <a:p>
            <a:pPr algn="ctr">
              <a:defRPr sz="1200">
                <a:solidFill>
                  <a:srgbClr val="CBD5E1"/>
                </a:solidFill>
                <a:latin typeface="Nirmala UI"/>
              </a:defRPr>
            </a:pPr>
            <a:r>
              <a:t>ಪ್ರಯಾಣ, ಔಷಧಾಲಯ &amp; ಕೆಲಸ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623560"/>
            <a:ext cx="85340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59E0B"/>
                </a:solidFill>
                <a:latin typeface="Nirmala UI"/>
              </a:defRPr>
            </a:pPr>
            <a:r>
              <a:t>👑 ಸಿರಿಗನ್ನಡಂ ಗೆಲ್ಗೆ, ಸಿರಿಗನ್ನಡಂ ಬಾಳ್ಗೆ! 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329184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EF08A"/>
                </a:solidFill>
                <a:latin typeface="Nirmala UI"/>
              </a:defRPr>
            </a:pPr>
            <a:r>
              <a:t>✨ ಕರ್ನಾಟಕ ನಾವೀನ್ಯತೆ • ೧೦೦% ಶುದ್ಧ ಕನ್ನಡ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irmala UI"/>
              </a:defRPr>
            </a:pPr>
            <a:r>
              <a:t>ಸಮಸ್ಯೆಯ ಹಿನ್ನೆಲೆ ಮತ್ತು ನವೀನ ಪರಿಹಾರ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16152"/>
            <a:ext cx="107286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EEAD4"/>
                </a:solidFill>
                <a:latin typeface="Nirmala UI"/>
              </a:defRPr>
            </a:pPr>
            <a:r>
              <a:t>ಸಾರ್ವಜನಿಕ ಆರೋಗ್ಯ ಕೇಂದ್ರಗಳಲ್ಲಿ ಭಾಷೆ ಮತ್ತು ಪ್ರವೇಶಿಸುವಿಕೆಯ ಸವಾಲುಗಳಿಗೆ ತಂತ್ರಜ್ಞಾನದ ಉತ್ತರ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28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  <a:latin typeface="Nirmala UI"/>
              </a:defRPr>
            </a:pPr>
            <a:r>
              <a:t>ಹೀಲಿಯೋ (HEALIO) — ಕನ್ನಡ ದೈನಂದಿನ ಜೀವನದಲ್ಲಿ • ಕೈಮುಕ್ತ ಆಸ್ಪತ್ರೆ ಸೇವೆ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922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Nirmala UI"/>
              </a:defRPr>
            </a:pPr>
            <a:r>
              <a:t>👑 ಸಿರಿಗನ್ನಡಂ ಗೆಲ್ಗೆ, ಸಿರಿಗನ್ನಡಂ ಬಾಳ್ಗೆ! 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Nirmala UI"/>
              </a:defRPr>
            </a:pPr>
            <a:r>
              <a:t>ಪುಟ 2 / 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91640"/>
            <a:ext cx="5166360" cy="45262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874519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2626"/>
                </a:solidFill>
                <a:latin typeface="Nirmala UI"/>
              </a:defRPr>
            </a:pPr>
            <a:r>
              <a:t>🚨 ಪ್ರಸ್ತುತ ಸವಾಲುಗಳು (The Challenges)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2468880"/>
            <a:ext cx="4617720" cy="1051560"/>
          </a:xfrm>
          <a:prstGeom prst="roundRect">
            <a:avLst/>
          </a:prstGeom>
          <a:solidFill>
            <a:srgbClr val="1E1419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ECACA"/>
                </a:solidFill>
                <a:latin typeface="Nirmala UI"/>
              </a:defRPr>
            </a:pPr>
            <a:r>
              <a:t>೧. ಆಸ್ಪತ್ರೆಗಳಲ್ಲಿ ದೀರ್ಘ ಸರತಿ ಸಾಲು:</a:t>
            </a:r>
          </a:p>
          <a:p>
            <a:pPr>
              <a:defRPr sz="1150">
                <a:solidFill>
                  <a:srgbClr val="CBD5E1"/>
                </a:solidFill>
                <a:latin typeface="Nirmala UI"/>
              </a:defRPr>
            </a:pPr>
            <a:r>
              <a:t>ಸಾರ್ವಜನಿಕ ಆಸ್ಪತ್ರೆಗಳಲ್ಲಿ ಟೋಕನ್ ಪಡೆಯಲು ಗಂಟೆಗಟ್ಟಲೆ ಕ್ಯೂ ನಿಲ್ಲುವುದು ವೃದ್ಧರು ಮತ್ತು ರೋಗಿಗಳಿಗೆ ತೀವ್ರ ಕಷ್ಟಕರ.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657600"/>
            <a:ext cx="4617720" cy="1051560"/>
          </a:xfrm>
          <a:prstGeom prst="roundRect">
            <a:avLst/>
          </a:prstGeom>
          <a:solidFill>
            <a:srgbClr val="1E1419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ECACA"/>
                </a:solidFill>
                <a:latin typeface="Nirmala UI"/>
              </a:defRPr>
            </a:pPr>
            <a:r>
              <a:t>೨. ಭಾಷಾ ಸಂವಹನದ ಕೊರತೆ:</a:t>
            </a:r>
          </a:p>
          <a:p>
            <a:pPr>
              <a:defRPr sz="1150">
                <a:solidFill>
                  <a:srgbClr val="CBD5E1"/>
                </a:solidFill>
                <a:latin typeface="Nirmala UI"/>
              </a:defRPr>
            </a:pPr>
            <a:r>
              <a:t>ವಲಸಿಗರು ಮತ್ತು ಹೊರಗಿನಿಂದ ಬಂದವರಿಗೆ ಕನ್ನಡದಲ್ಲಿ ವೈದ್ಯರು, ಆಸ್ಪತ್ರೆ ಸಿಬ್ಬಂದಿ ಹಾಗೂ ಔಷಧಾಲಯಗಳಲ್ಲಿ ಮಾತನಾಡುವುದು ಸವಾಲು.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846320"/>
            <a:ext cx="4617720" cy="1051560"/>
          </a:xfrm>
          <a:prstGeom prst="roundRect">
            <a:avLst/>
          </a:prstGeom>
          <a:solidFill>
            <a:srgbClr val="1E1419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ECACA"/>
                </a:solidFill>
                <a:latin typeface="Nirmala UI"/>
              </a:defRPr>
            </a:pPr>
            <a:r>
              <a:t>೩. ಪ್ರವೇಶಿಸುವಿಕೆಯ ಅಡೆತಡೆಗಳು:</a:t>
            </a:r>
          </a:p>
          <a:p>
            <a:pPr>
              <a:defRPr sz="1150">
                <a:solidFill>
                  <a:srgbClr val="CBD5E1"/>
                </a:solidFill>
                <a:latin typeface="Nirmala UI"/>
              </a:defRPr>
            </a:pPr>
            <a:r>
              <a:t>ಅಂಗವಿಕಲತೆ, ಕೈ ನಡುಕ ಅಥವಾ ಕಣ್ಣಿನ ತೊಂದರೆ ಇರುವವರಿಗೆ ಸಣ್ಣ ಸ್ಕ್ರೀನ್‌ಗಳಲ್ಲಿ ಟೈಪ್ ಮಾಡುವುದು ಅಸಾಧ್ಯ.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691640"/>
            <a:ext cx="5166360" cy="45262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874519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EEAD4"/>
                </a:solidFill>
                <a:latin typeface="Nirmala UI"/>
              </a:defRPr>
            </a:pPr>
            <a:r>
              <a:t>💡 ಹೀಲಿಯೋ ಪರಿಹಾರ (Our Solution)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2468880"/>
            <a:ext cx="4617720" cy="1051560"/>
          </a:xfrm>
          <a:prstGeom prst="roundRect">
            <a:avLst/>
          </a:prstGeom>
          <a:solidFill>
            <a:srgbClr val="0F232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5EEAD4"/>
                </a:solidFill>
                <a:latin typeface="Nirmala UI"/>
              </a:defRPr>
            </a:pPr>
            <a:r>
              <a:t>೧. ಸಂಪೂರ್ಣ ಕೈಮುಕ್ತ ವ್ಯವಸ್ಥೆ:</a:t>
            </a:r>
          </a:p>
          <a:p>
            <a:pPr>
              <a:defRPr sz="1150">
                <a:solidFill>
                  <a:srgbClr val="CBD5E1"/>
                </a:solidFill>
                <a:latin typeface="Nirmala UI"/>
              </a:defRPr>
            </a:pPr>
            <a:r>
              <a:t>ಟೈಪಿಂಗ್ ಇಲ್ಲದೆ ಕನ್ನಡ ಧ್ವನಿ ಅಥವಾ ಕಣ್ಣು ನೋಟದಿಂದ ಕೆಲವೇ ಸೆಕೆಂಡುಗಳಲ್ಲಿ ಆಸ್ಪತ್ರೆ ಅಪಾಯಿಂಟ್‌ಮೆಂಟ್ ಬುಕಿಂಗ್.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3657600"/>
            <a:ext cx="4617720" cy="1051560"/>
          </a:xfrm>
          <a:prstGeom prst="roundRect">
            <a:avLst/>
          </a:prstGeom>
          <a:solidFill>
            <a:srgbClr val="0F232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5EEAD4"/>
                </a:solidFill>
                <a:latin typeface="Nirmala UI"/>
              </a:defRPr>
            </a:pPr>
            <a:r>
              <a:t>೨. ನೂರಕ್ಕೆ ನೂರು ಶುದ್ಧ ಕನ್ನಡ:</a:t>
            </a:r>
          </a:p>
          <a:p>
            <a:pPr>
              <a:defRPr sz="1150">
                <a:solidFill>
                  <a:srgbClr val="CBD5E1"/>
                </a:solidFill>
                <a:latin typeface="Nirmala UI"/>
              </a:defRPr>
            </a:pPr>
            <a:r>
              <a:t>ಇಂಗ್ಲಿಷ್ ಅವಲಂಬನೆಯಿಲ್ಲದೆ ಸ್ಥಳೀಯ ಭಾಷೆಯಲ್ಲೇ ಸಾರ್ವಜನಿಕರಿಗೆ ಸರಳ ಮತ್ತು ಅರ್ಥಗರ್ಭಿತ ಇಂಟರ್ಫೇಸ್.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846320"/>
            <a:ext cx="4617720" cy="1051560"/>
          </a:xfrm>
          <a:prstGeom prst="roundRect">
            <a:avLst/>
          </a:prstGeom>
          <a:solidFill>
            <a:srgbClr val="0F232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5EEAD4"/>
                </a:solidFill>
                <a:latin typeface="Nirmala UI"/>
              </a:defRPr>
            </a:pPr>
            <a:r>
              <a:t>೩. ದೈನಂದಿನ ಕನ್ನಡ ಕಲಿಕಾ ಸಂಗಾತಿ:</a:t>
            </a:r>
          </a:p>
          <a:p>
            <a:pPr>
              <a:defRPr sz="1150">
                <a:solidFill>
                  <a:srgbClr val="CBD5E1"/>
                </a:solidFill>
                <a:latin typeface="Nirmala UI"/>
              </a:defRPr>
            </a:pPr>
            <a:r>
              <a:t>ಆಸ್ಪತ್ರೆ, ಬಸ್, ಆಟೋ, ಔಷಧಾಲಯ ಹಾಗೂ ಕಚೇರಿಗಳಲ್ಲಿ ಬಳಸುವ ನೈಜ ಕನ್ನಡ ನುಡಿಗಟ್ಟುಗಳನ್ನು ಆಡಿಯೋ ಸಹಿತ ಕಲಿಸುವ ವ್ಯವಸ್ಥೆ.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329184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EF08A"/>
                </a:solidFill>
                <a:latin typeface="Nirmala UI"/>
              </a:defRPr>
            </a:pPr>
            <a:r>
              <a:t>✨ ಕರ್ನಾಟಕ ನಾವೀನ್ಯತೆ • ೧೦೦% ಶುದ್ಧ ಕನ್ನಡ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irmala UI"/>
              </a:defRPr>
            </a:pPr>
            <a:r>
              <a:t>ಮೂರು ಕೈಮುಕ್ತ ಪ್ರವೇಶಿಸುವಿಕೆ ವಿಧಾನಗಳು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16152"/>
            <a:ext cx="107286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EEAD4"/>
                </a:solidFill>
                <a:latin typeface="Nirmala UI"/>
              </a:defRPr>
            </a:pPr>
            <a:r>
              <a:t>ವಿಶೇಷ ಚೇತನರು ಹಾಗೂ ಸಾರ್ವಜನಿಕರಿಗೆ ಹೊಂದಿಕೊಳ್ಳುವ ಆಧುನಿಕ ಸಂವಹನ ಮಾಧ್ಯಮಗಳು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28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  <a:latin typeface="Nirmala UI"/>
              </a:defRPr>
            </a:pPr>
            <a:r>
              <a:t>ಹೀಲಿಯೋ (HEALIO) — ಕನ್ನಡ ದೈನಂದಿನ ಜೀವನದಲ್ಲಿ • ಕೈಮುಕ್ತ ಆಸ್ಪತ್ರೆ ಸೇವೆ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922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Nirmala UI"/>
              </a:defRPr>
            </a:pPr>
            <a:r>
              <a:t>👑 ಸಿರಿಗನ್ನಡಂ ಗೆಲ್ಗೆ, ಸಿರಿಗನ್ನಡಂ ಬಾಳ್ಗೆ! 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Nirmala UI"/>
              </a:defRPr>
            </a:pPr>
            <a:r>
              <a:t>ಪುಟ 3 / 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91640"/>
            <a:ext cx="3456432" cy="45262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1874519"/>
            <a:ext cx="3090672" cy="777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Nirmala UI"/>
              </a:defRPr>
            </a:pPr>
            <a:r>
              <a:t>🎙️ ಧ್ವನಿ ವಿಧಾನ (Voice Mode)</a:t>
            </a:r>
          </a:p>
          <a:p>
            <a:pPr algn="ctr">
              <a:defRPr sz="1100" b="1">
                <a:solidFill>
                  <a:srgbClr val="F59E0B"/>
                </a:solidFill>
                <a:latin typeface="Nirmala UI"/>
              </a:defRPr>
            </a:pPr>
            <a:r>
              <a:t>ಕನ್ನಡ ಧ್ವನಿ ಗುರುತಿಸುವಿಕೆ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88920"/>
            <a:ext cx="3090672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F59E0B"/>
                </a:solidFill>
                <a:latin typeface="Nirmala UI"/>
              </a:rPr>
              <a:t>• ತಂತ್ರಜ್ಞಾನ: </a:t>
            </a:r>
            <a:r>
              <a:rPr sz="1150">
                <a:solidFill>
                  <a:srgbClr val="CBD5E1"/>
                </a:solidFill>
                <a:latin typeface="Nirmala UI"/>
              </a:rPr>
              <a:t>Web Speech API (kn-IN) ಇಂಟಿಗ್ರೇಷನ್.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59E0B"/>
                </a:solidFill>
                <a:latin typeface="Nirmala UI"/>
              </a:rPr>
              <a:t>• ಬಳಕೆ: </a:t>
            </a:r>
            <a:r>
              <a:rPr sz="1150">
                <a:solidFill>
                  <a:srgbClr val="CBD5E1"/>
                </a:solidFill>
                <a:latin typeface="Nirmala UI"/>
              </a:rPr>
              <a:t>"ನನ್ನ ಹೆಸರು ರಮೇಶ್ ಕುಮಾರ್" ಎಂದು ಮಾತನಾಡಿದರೆ ಸಾಕು.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59E0B"/>
                </a:solidFill>
                <a:latin typeface="Nirmala UI"/>
              </a:rPr>
              <a:t>• ವೈಶಿಷ್ಟ್ಯ: </a:t>
            </a:r>
            <a:r>
              <a:rPr sz="1150">
                <a:solidFill>
                  <a:srgbClr val="CBD5E1"/>
                </a:solidFill>
                <a:latin typeface="Nirmala UI"/>
              </a:rPr>
              <a:t>ಲೈವ್ ಆಡಿಯೋ ತರಂಗಗಳು ಮತ್ತು ಸ್ಪಷ್ಟ ಕನ್ನಡ ಪಠ್ಯ ಪರಿವರ್ತನೆ.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59E0B"/>
                </a:solidFill>
                <a:latin typeface="Nirmala UI"/>
              </a:rPr>
              <a:t>• ಪ್ರಯೋಜನ: </a:t>
            </a:r>
            <a:r>
              <a:rPr sz="1150">
                <a:solidFill>
                  <a:srgbClr val="CBD5E1"/>
                </a:solidFill>
                <a:latin typeface="Nirmala UI"/>
              </a:rPr>
              <a:t>ಅನಕ್ಷರಸ್ಥರು ಮತ್ತು ಹಿರಿಯರಿಗೆ ಅತ್ಯಂತ ಸಹಕಾರಿ.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691640"/>
            <a:ext cx="3456432" cy="45262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53712" y="1874519"/>
            <a:ext cx="3090672" cy="777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Nirmala UI"/>
              </a:defRPr>
            </a:pPr>
            <a:r>
              <a:t>👁️ ಕಣ್ಣು ನೋಟ (Eye Gaze Dwell)</a:t>
            </a:r>
          </a:p>
          <a:p>
            <a:pPr algn="ctr">
              <a:defRPr sz="1100" b="1">
                <a:solidFill>
                  <a:srgbClr val="14B8A6"/>
                </a:solidFill>
                <a:latin typeface="Nirmala UI"/>
              </a:defRPr>
            </a:pPr>
            <a:r>
              <a:t>೧.೨ ಸೆಕೆಂಡ್ SVG ಟೈಮರ್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788920"/>
            <a:ext cx="3090672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14B8A6"/>
                </a:solidFill>
                <a:latin typeface="Nirmala UI"/>
              </a:rPr>
              <a:t>• ತಂತ್ರಜ್ಞಾನ: </a:t>
            </a:r>
            <a:r>
              <a:rPr sz="1150">
                <a:solidFill>
                  <a:srgbClr val="CBD5E1"/>
                </a:solidFill>
                <a:latin typeface="Nirmala UI"/>
              </a:rPr>
              <a:t>೧.೨ ಸೆಕೆಂಡುಗಳ ವೃತ್ತಾಕಾರದ SVG ಪ್ರೋಗ್ರೆಸ್ ರಿಂಗ್.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4B8A6"/>
                </a:solidFill>
                <a:latin typeface="Nirmala UI"/>
              </a:rPr>
              <a:t>• ಬಳಕೆ: </a:t>
            </a:r>
            <a:r>
              <a:rPr sz="1150">
                <a:solidFill>
                  <a:srgbClr val="CBD5E1"/>
                </a:solidFill>
                <a:latin typeface="Nirmala UI"/>
              </a:rPr>
              <a:t>ಬಟನ್ ಮೇಲೆ ೧.೨ ಸೆಕೆಂಡ್ ದೃಷ್ಟಿ ಅಥವಾ ಪಾಯಿಂಟರ್ ನಿಲ್ಲಿಸಿದಾಗ ಆಟೋ-ಕ್ಲಿಕ್.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4B8A6"/>
                </a:solidFill>
                <a:latin typeface="Nirmala UI"/>
              </a:rPr>
              <a:t>• ವೈಶಿಷ್ಟ್ಯ: </a:t>
            </a:r>
            <a:r>
              <a:rPr sz="1150">
                <a:solidFill>
                  <a:srgbClr val="CBD5E1"/>
                </a:solidFill>
                <a:latin typeface="Nirmala UI"/>
              </a:rPr>
              <a:t>ವೆಬ್ ಆಡಿಯೋ ಚೈಮ್ (Chime) ನೊಂದಿಗೆ ದೃಢೀಕರಣ.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4B8A6"/>
                </a:solidFill>
                <a:latin typeface="Nirmala UI"/>
              </a:rPr>
              <a:t>• ಪ್ರಯೋಜನ: </a:t>
            </a:r>
            <a:r>
              <a:rPr sz="1150">
                <a:solidFill>
                  <a:srgbClr val="CBD5E1"/>
                </a:solidFill>
                <a:latin typeface="Nirmala UI"/>
              </a:rPr>
              <a:t>ಕೈ ಚಲನೆ ಅಸಾಧ್ಯವಾದ ವಿಶೇಷ ಚೇತನರಿಗೆ ವರದಾನ.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1691640"/>
            <a:ext cx="3456432" cy="45262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93024" y="1874519"/>
            <a:ext cx="3090672" cy="777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Nirmala UI"/>
              </a:defRPr>
            </a:pPr>
            <a:r>
              <a:t>👆 ದೊಡ್ಡ ಬಟನ್‌ಗಳು (Touch &amp; Keys)</a:t>
            </a:r>
          </a:p>
          <a:p>
            <a:pPr algn="ctr">
              <a:defRPr sz="1100" b="1">
                <a:solidFill>
                  <a:srgbClr val="DC2626"/>
                </a:solidFill>
                <a:latin typeface="Nirmala UI"/>
              </a:defRPr>
            </a:pPr>
            <a:r>
              <a:t>WCAG AAA ಅಕ್ಸೆಸಿಬಿಲಿಟಿ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2788920"/>
            <a:ext cx="3090672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DC2626"/>
                </a:solidFill>
                <a:latin typeface="Nirmala UI"/>
              </a:rPr>
              <a:t>• ತಂತ್ರಜ್ಞಾನ: </a:t>
            </a:r>
            <a:r>
              <a:rPr sz="1150">
                <a:solidFill>
                  <a:srgbClr val="CBD5E1"/>
                </a:solidFill>
                <a:latin typeface="Nirmala UI"/>
              </a:rPr>
              <a:t>WCAG AAA ೫೬px+ ಕಾಂಟ್ರಾಸ್ಟ್ ಮತ್ತು ಟಚ್ ಟಾರ್ಗೆಟ್.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DC2626"/>
                </a:solidFill>
                <a:latin typeface="Nirmala UI"/>
              </a:rPr>
              <a:t>• ಬಳಕೆ: </a:t>
            </a:r>
            <a:r>
              <a:rPr sz="1150">
                <a:solidFill>
                  <a:srgbClr val="CBD5E1"/>
                </a:solidFill>
                <a:latin typeface="Nirmala UI"/>
              </a:rPr>
              <a:t>ಪರದೆಯ ಮೇಲಿನ ದೊಡ್ಡ ಸ್ಪಷ್ಟ ಬಟನ್‌ಗಳನ್ನು ನೇರವಾಗಿ ಮುಟ್ಟಿ.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DC2626"/>
                </a:solidFill>
                <a:latin typeface="Nirmala UI"/>
              </a:rPr>
              <a:t>• ವೈಶಿಷ್ಟ್ಯ: </a:t>
            </a:r>
            <a:r>
              <a:rPr sz="1150">
                <a:solidFill>
                  <a:srgbClr val="CBD5E1"/>
                </a:solidFill>
                <a:latin typeface="Nirmala UI"/>
              </a:rPr>
              <a:t>ಕೀಬೋರ್ಡ್ Tab, Shift+Tab, Enter, Space ಪೂರ್ಣ ಬೆಂಬಲ.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DC2626"/>
                </a:solidFill>
                <a:latin typeface="Nirmala UI"/>
              </a:rPr>
              <a:t>• ಪ್ರಯೋಜನ: </a:t>
            </a:r>
            <a:r>
              <a:rPr sz="1150">
                <a:solidFill>
                  <a:srgbClr val="CBD5E1"/>
                </a:solidFill>
                <a:latin typeface="Nirmala UI"/>
              </a:rPr>
              <a:t>ದೃಷ್ಟಿ ಮಾಂದ್ಯತೆ ಮತ್ತು ಸಣ್ಣ ಪರದೆಯ ಮೊಬೈಲ್‌ಗಳಲ್ಲಿ ಸುಲಭ ಬಳಕೆ.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329184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EF08A"/>
                </a:solidFill>
                <a:latin typeface="Nirmala UI"/>
              </a:defRPr>
            </a:pPr>
            <a:r>
              <a:t>✨ ಕರ್ನಾಟಕ ನಾವೀನ್ಯತೆ • ೧೦೦% ಶುದ್ಧ ಕನ್ನಡ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irmala UI"/>
              </a:defRPr>
            </a:pPr>
            <a:r>
              <a:t>ರೋಗಿಯ ಗುರುತು ದಾಖಲಾತಿ ಮತ್ತು ೫ ವೈದ್ಯಕೀಯ ವಿಭಾಗಗಳು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16152"/>
            <a:ext cx="107286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EEAD4"/>
                </a:solidFill>
                <a:latin typeface="Nirmala UI"/>
              </a:defRPr>
            </a:pPr>
            <a:r>
              <a:t>ಕನ್ನಡ NLP ಮೂಲಕ ಹೆಸರು ಗುರುತಿಸುವಿಕೆ ಮತ್ತು ತಜ್ಞ ವೈದ್ಯರ ಪಟ್ಟಿ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28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  <a:latin typeface="Nirmala UI"/>
              </a:defRPr>
            </a:pPr>
            <a:r>
              <a:t>ಹೀಲಿಯೋ (HEALIO) — ಕನ್ನಡ ದೈನಂದಿನ ಜೀವನದಲ್ಲಿ • ಕೈಮುಕ್ತ ಆಸ್ಪತ್ರೆ ಸೇವೆ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922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Nirmala UI"/>
              </a:defRPr>
            </a:pPr>
            <a:r>
              <a:t>👑 ಸಿರಿಗನ್ನಡಂ ಗೆಲ್ಗೆ, ಸಿರಿಗನ್ನಡಂ ಬಾಳ್ಗೆ! 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Nirmala UI"/>
              </a:defRPr>
            </a:pPr>
            <a:r>
              <a:t>ಪುಟ 4 / 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91640"/>
            <a:ext cx="5166360" cy="45262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874519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Nirmala UI"/>
              </a:defRPr>
            </a:pPr>
            <a:r>
              <a:t>🎙️ ಧ್ವನಿ ಮೂಲಕ ರೋಗಿಯ ಗುರುತು ದಾಖಲು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2423160"/>
            <a:ext cx="461772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EF08A"/>
                </a:solidFill>
                <a:latin typeface="Nirmala UI"/>
              </a:defRPr>
            </a:pPr>
            <a:r>
              <a:t>ಧ್ವನಿ ಹೆಸರು ದಾಖಲಾತಿ:</a:t>
            </a:r>
          </a:p>
          <a:p>
            <a:pPr>
              <a:defRPr sz="1050">
                <a:solidFill>
                  <a:srgbClr val="CBD5E1"/>
                </a:solidFill>
                <a:latin typeface="Nirmala UI"/>
              </a:defRPr>
            </a:pPr>
            <a:r>
              <a:t>ರೋಗಿಯು 'ನನ್ನ ಹೆಸರು ರಮೇಶ್ ಕುಮಾರ್' ಅಥವಾ 'ಅನಿತಾ ಗೌಡ' ಎಂದು ಮಾತನಾಡಿದಾಗ ಕನ್ನಡ NLP ತಕ್ಷಣವೇ ಗುರುತಿಸಿ ಇನ್‌ಪುಟ್ ಬಾಕ್ಸ್‌ನಲ್ಲಿ ನಮೂದಿಸುತ್ತದೆ.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337560"/>
            <a:ext cx="461772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EF08A"/>
                </a:solidFill>
                <a:latin typeface="Nirmala UI"/>
              </a:defRPr>
            </a:pPr>
            <a:r>
              <a:t>ಹುಟ್ಟಿದ ದಿನಾಂಕ (DOB):</a:t>
            </a:r>
          </a:p>
          <a:p>
            <a:pPr>
              <a:defRPr sz="1050">
                <a:solidFill>
                  <a:srgbClr val="CBD5E1"/>
                </a:solidFill>
                <a:latin typeface="Nirmala UI"/>
              </a:defRPr>
            </a:pPr>
            <a:r>
              <a:t>ಧ್ವನಿ ಮೂಲಕ ಹುಟ್ಟಿದ ದಿನಾಂಕ ಅಥವಾ ವರ್ಷವನ್ನು ಮಾತನಾಡಬಹುದು (ಉದಾ: '೧೫/೦೬/೧೯೮೮').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251960"/>
            <a:ext cx="461772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EF08A"/>
                </a:solidFill>
                <a:latin typeface="Nirmala UI"/>
              </a:defRPr>
            </a:pPr>
            <a:r>
              <a:t>೪-ಅಂಕಿಯ ಡೆಮೊ ಕೋಡ್:</a:t>
            </a:r>
          </a:p>
          <a:p>
            <a:pPr>
              <a:defRPr sz="1050">
                <a:solidFill>
                  <a:srgbClr val="CBD5E1"/>
                </a:solidFill>
                <a:latin typeface="Nirmala UI"/>
              </a:defRPr>
            </a:pPr>
            <a:r>
              <a:t>ಪ್ರಾತ್ಯಕ್ಷಿಕೆಯಲ್ಲಿ ಅಧಿಕೃತ ದೃಢೀಕರಣಕ್ಕಾಗಿ ಕನ್ನಡ ಅಂಕಿಗಳಲ್ಲಿ '೪೨೮೫' ಕೋಡ್ ಪ್ರದರ್ಶನ.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5166360"/>
            <a:ext cx="461772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EF08A"/>
                </a:solidFill>
                <a:latin typeface="Nirmala UI"/>
              </a:defRPr>
            </a:pPr>
            <a:r>
              <a:t>ಗೌಪ್ಯತೆ &amp; ಸುರಕ್ಷತೆ:</a:t>
            </a:r>
          </a:p>
          <a:p>
            <a:pPr>
              <a:defRPr sz="1050">
                <a:solidFill>
                  <a:srgbClr val="CBD5E1"/>
                </a:solidFill>
                <a:latin typeface="Nirmala UI"/>
              </a:defRPr>
            </a:pPr>
            <a:r>
              <a:t>ಯಾವುದೇ ಧ್ವನಿ ರೆಕಾರ್ಡ್ ಆಗುವುದಿಲ್ಲ. ಮಾಹಿತಿ ಸಾಧನದಿಂದ ಹೊರಹೋಗುವುದಿಲ್ಲ.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691640"/>
            <a:ext cx="5166360" cy="45262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874519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EEAD4"/>
                </a:solidFill>
                <a:latin typeface="Nirmala UI"/>
              </a:defRPr>
            </a:pPr>
            <a:r>
              <a:t>🏥 ೫ ಪ್ರಮುಖ ಆಸ್ಪತ್ರೆ ವಿಭಾಗಗಳು &amp; ತಜ್ಞರು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2423160"/>
            <a:ext cx="4617720" cy="65836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EEAD4"/>
                </a:solidFill>
                <a:latin typeface="Nirmala UI"/>
              </a:defRPr>
            </a:pPr>
            <a:r>
              <a:t>❤️ ಹೃದಯ ವಿಭಾಗ (Cardiology) — ಡಾ. ರಮೇಶ್ ಕುಮಾರ್</a:t>
            </a:r>
          </a:p>
          <a:p>
            <a:pPr>
              <a:defRPr sz="1050">
                <a:solidFill>
                  <a:srgbClr val="CBD5E1"/>
                </a:solidFill>
                <a:latin typeface="Nirmala UI"/>
              </a:defRPr>
            </a:pPr>
            <a:r>
              <a:t>ಎದೆ ನೋವು, ರಕ್ತದೊತ್ತಡ ಮತ್ತು ಹೃದಯ ತಪಾಸಣೆ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154680"/>
            <a:ext cx="4617720" cy="65836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EEAD4"/>
                </a:solidFill>
                <a:latin typeface="Nirmala UI"/>
              </a:defRPr>
            </a:pPr>
            <a:r>
              <a:t>👶 ಮಕ್ಕಳ ವಿಭಾಗ (Paediatrics) — ಡಾ. ಅನಿತಾ ರಾವ್</a:t>
            </a:r>
          </a:p>
          <a:p>
            <a:pPr>
              <a:defRPr sz="1050">
                <a:solidFill>
                  <a:srgbClr val="CBD5E1"/>
                </a:solidFill>
                <a:latin typeface="Nirmala UI"/>
              </a:defRPr>
            </a:pPr>
            <a:r>
              <a:t>ಮಕ್ಕಳ ಜ್ವರ, ರೋಗನಿರೋಧಕ ಲಸಿಕೆ ಮತ್ತು ಆರೈಕೆ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3886200"/>
            <a:ext cx="4617720" cy="65836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EEAD4"/>
                </a:solidFill>
                <a:latin typeface="Nirmala UI"/>
              </a:defRPr>
            </a:pPr>
            <a:r>
              <a:t>🦴 ಮೂಳೆ ವಿಭಾಗ (Orthopaedics) — ಡಾ. ಸುರೇಶ್ ಗೌಡ</a:t>
            </a:r>
          </a:p>
          <a:p>
            <a:pPr>
              <a:defRPr sz="1050">
                <a:solidFill>
                  <a:srgbClr val="CBD5E1"/>
                </a:solidFill>
                <a:latin typeface="Nirmala UI"/>
              </a:defRPr>
            </a:pPr>
            <a:r>
              <a:t>ಕೀಲು ನೋವು, ಮೂಳೆ ಮುರಿತ ಮತ್ತು ಸಂಧಿವಾತ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4617720"/>
            <a:ext cx="4617720" cy="65836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EEAD4"/>
                </a:solidFill>
                <a:latin typeface="Nirmala UI"/>
              </a:defRPr>
            </a:pPr>
            <a:r>
              <a:t>👁️ ಕಣ್ಣು ವಿಭಾಗ (Ophthalmology) — ಡಾ. ಪ್ರಿಯಾ ಶರ್ಮ</a:t>
            </a:r>
          </a:p>
          <a:p>
            <a:pPr>
              <a:defRPr sz="1050">
                <a:solidFill>
                  <a:srgbClr val="CBD5E1"/>
                </a:solidFill>
                <a:latin typeface="Nirmala UI"/>
              </a:defRPr>
            </a:pPr>
            <a:r>
              <a:t>ದೃಷ್ಟಿ ಪರೀಕ್ಷೆ, ಕಣ್ಣಿನ ಪೊರೆ ಮತ್ತು ಕನ್ನಡಕ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7960" y="5349240"/>
            <a:ext cx="4617720" cy="65836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EEAD4"/>
                </a:solidFill>
                <a:latin typeface="Nirmala UI"/>
              </a:defRPr>
            </a:pPr>
            <a:r>
              <a:t>🩺 ಸಾಮಾನ್ಯ ವೈದ್ಯ (General Medicine) — ಡಾ. ಮಂಜುನಾಥ್ ಕೆ.</a:t>
            </a:r>
          </a:p>
          <a:p>
            <a:pPr>
              <a:defRPr sz="1050">
                <a:solidFill>
                  <a:srgbClr val="CBD5E1"/>
                </a:solidFill>
                <a:latin typeface="Nirmala UI"/>
              </a:defRPr>
            </a:pPr>
            <a:r>
              <a:t>ಜ್ವರ, ಶೀತ, ಮಧುಮೇಹ ಮತ್ತು ಸಾಮಾನ್ಯ ತಪಾಸಣೆ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329184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EF08A"/>
                </a:solidFill>
                <a:latin typeface="Nirmala UI"/>
              </a:defRPr>
            </a:pPr>
            <a:r>
              <a:t>✨ ಕರ್ನಾಟಕ ನಾವೀನ್ಯತೆ • ೧೦೦% ಶುದ್ಧ ಕನ್ನಡ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irmala UI"/>
              </a:defRPr>
            </a:pPr>
            <a:r>
              <a:t>ನೈಜ-ಸಮಯದ ಸ್ಲಾಟ್ ಬುಕಿಂಗ್ &amp; SMS ದೃಢೀಕರಣ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16152"/>
            <a:ext cx="107286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EEAD4"/>
                </a:solidFill>
                <a:latin typeface="Nirmala UI"/>
              </a:defRPr>
            </a:pPr>
            <a:r>
              <a:t>ಕ್ಯಾಲೆಂಡರ್ ವೇಳಾಪಟ್ಟಿ, ಅಧಿಕೃತ ಉಲ್ಲೇಖ ಸಂಕೇತ ಮತ್ತು ಸಕ್ರಿಯ ಬುಕಿಂಗ್ ನಿರ್ವಹಣೆ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28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  <a:latin typeface="Nirmala UI"/>
              </a:defRPr>
            </a:pPr>
            <a:r>
              <a:t>ಹೀಲಿಯೋ (HEALIO) — ಕನ್ನಡ ದೈನಂದಿನ ಜೀವನದಲ್ಲಿ • ಕೈಮುಕ್ತ ಆಸ್ಪತ್ರೆ ಸೇವೆ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922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Nirmala UI"/>
              </a:defRPr>
            </a:pPr>
            <a:r>
              <a:t>👑 ಸಿರಿಗನ್ನಡಂ ಗೆಲ್ಗೆ, ಸಿರಿಗನ್ನಡಂ ಬಾಳ್ಗೆ! 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Nirmala UI"/>
              </a:defRPr>
            </a:pPr>
            <a:r>
              <a:t>ಪುಟ 5 / 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91640"/>
            <a:ext cx="5166360" cy="45262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874519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EEAD4"/>
                </a:solidFill>
                <a:latin typeface="Nirmala UI"/>
              </a:defRPr>
            </a:pPr>
            <a:r>
              <a:t>📅 ಕ್ಯಾಲೆಂಡರ್ &amp; ನೈಜ-ಸಮಯದ ಸ್ಲಾಟ್‌ಗಳು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2423160"/>
            <a:ext cx="461772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EEAD4"/>
                </a:solidFill>
                <a:latin typeface="Nirmala UI"/>
              </a:defRPr>
            </a:pPr>
            <a:r>
              <a:t>ಮುಂದಿನ ೭ ದಿನಗಳ ಕ್ಯಾಲೆಂಡರ್:</a:t>
            </a:r>
          </a:p>
          <a:p>
            <a:pPr>
              <a:defRPr sz="1050">
                <a:solidFill>
                  <a:srgbClr val="CBD5E1"/>
                </a:solidFill>
                <a:latin typeface="Nirmala UI"/>
              </a:defRPr>
            </a:pPr>
            <a:r>
              <a:t>ಇಂದು (ಸೋಮವಾರ), ನಾಳೆ (ಮಂಗಳವಾರ), ಬುಧವಾರ... ಸುಲಭವಾಗಿ ದಿನಾಂಕ ಆಯ್ಕೆ.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337560"/>
            <a:ext cx="461772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EEAD4"/>
                </a:solidFill>
                <a:latin typeface="Nirmala UI"/>
              </a:defRPr>
            </a:pPr>
            <a:r>
              <a:t>ಬೆಳಿಗ್ಗೆ &amp; ಮಧ್ಯಾಹ್ನದ ಸ್ಲಾಟ್‌ಗಳು:</a:t>
            </a:r>
          </a:p>
          <a:p>
            <a:pPr>
              <a:defRPr sz="1050">
                <a:solidFill>
                  <a:srgbClr val="CBD5E1"/>
                </a:solidFill>
                <a:latin typeface="Nirmala UI"/>
              </a:defRPr>
            </a:pPr>
            <a:r>
              <a:t>೧೦:೦೦, ೧೦:೩೦, ೧೧:೦೦ ಬೆಳಿಗ್ಗೆ ಮತ್ತು ೦೨:೦೦, ೦೨:೩೦, ೦೩:೦೦ ಮಧ್ಯಾಹ್ನ.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251960"/>
            <a:ext cx="461772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EEAD4"/>
                </a:solidFill>
                <a:latin typeface="Nirmala UI"/>
              </a:defRPr>
            </a:pPr>
            <a:r>
              <a:t>ನೈಜ-ಸಮಯದ REST API ಸಿಂಕ್:</a:t>
            </a:r>
          </a:p>
          <a:p>
            <a:pPr>
              <a:defRPr sz="1050">
                <a:solidFill>
                  <a:srgbClr val="CBD5E1"/>
                </a:solidFill>
                <a:latin typeface="Nirmala UI"/>
              </a:defRPr>
            </a:pPr>
            <a:r>
              <a:t>ಯಾರಾದರೂ ಸ್ಲಾಟ್ ಬುಕ್ ಮಾಡಿದ ತಕ್ಷಣ ಲಭ್ಯತೆ ಕೆಂಪು ಬಣ್ಣಕ್ಕೆ ತಿರುಗುತ್ತದೆ. ಲಭ್ಯವಿರುವ ಸ್ಲಾಟ್‌ಗಳು ಹಸಿರಾಗಿರುತ್ತವೆ.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5166360"/>
            <a:ext cx="461772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EEAD4"/>
                </a:solidFill>
                <a:latin typeface="Nirmala UI"/>
              </a:defRPr>
            </a:pPr>
            <a:r>
              <a:t>ಡೇಟಾಬೇಸ್ ಸಂರಕ್ಷಣೆ:</a:t>
            </a:r>
          </a:p>
          <a:p>
            <a:pPr>
              <a:defRPr sz="1050">
                <a:solidFill>
                  <a:srgbClr val="CBD5E1"/>
                </a:solidFill>
                <a:latin typeface="Nirmala UI"/>
              </a:defRPr>
            </a:pPr>
            <a:r>
              <a:t>Node.js ಬ್ಯಾಕೆಂಡ್ ಮೂಲಕ `data/availability.json` ನಲ್ಲಿ ನೈಜ-ಸಮಯದ ಆಟೋಮ್ಯಾಟಿಕ್ ರಿಸರ್ವೇಶನ್.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691640"/>
            <a:ext cx="5166360" cy="45262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874519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Nirmala UI"/>
              </a:defRPr>
            </a:pPr>
            <a:r>
              <a:t>🎉 ದೃಢೀಕರಣ, SMS &amp; ಬುಕಿಂಗ್ ನಿರ್ವಹಣೆ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2423160"/>
            <a:ext cx="461772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EF08A"/>
                </a:solidFill>
                <a:latin typeface="Nirmala UI"/>
              </a:defRPr>
            </a:pPr>
            <a:r>
              <a:t>ಅಧಿಕೃತ ಕನ್ನಡ ಉಲ್ಲೇಖ ಸಂಖ್ಯೆ:</a:t>
            </a:r>
          </a:p>
          <a:p>
            <a:pPr>
              <a:defRPr sz="1050">
                <a:solidFill>
                  <a:srgbClr val="CBD5E1"/>
                </a:solidFill>
                <a:latin typeface="Nirmala UI"/>
              </a:defRPr>
            </a:pPr>
            <a:r>
              <a:t>ಬುಕಿಂಗ್ ಮುಗಿದ ತಕ್ಷಣ ಕನ್ನಡ ಅಂಕಿಗಳಲ್ಲಿ `HL-೪೨೮೫` ವಿಶಿಷ್ಟ ರೆಫರೆನ್ಸ್ ಕೋಡ್ ಸೃಷ್ಟಿಯಾಗುತ್ತದೆ.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337560"/>
            <a:ext cx="461772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EF08A"/>
                </a:solidFill>
                <a:latin typeface="Nirmala UI"/>
              </a:defRPr>
            </a:pPr>
            <a:r>
              <a:t>ಮೊಬೈಲ್ SMS ಪ್ರಿವ್ಯೂ:</a:t>
            </a:r>
          </a:p>
          <a:p>
            <a:pPr>
              <a:defRPr sz="1050">
                <a:solidFill>
                  <a:srgbClr val="CBD5E1"/>
                </a:solidFill>
                <a:latin typeface="Nirmala UI"/>
              </a:defRPr>
            </a:pPr>
            <a:r>
              <a:t>"ಆಸ್ಪತ್ರೆ ಸಂದೇಶ: ಗೌರವಾನ್ವಿತ ರಮೇಶ್ ಕುಮಾರ್, ನಿಮ್ಮ ಅಪಾಯಿಂಟ್‌ಮೆಂಟ್ ಯಶಸ್ವಿಯಾಗಿದೆ. ಉಲ್ಲೇಖ: HL-೪೨೮೫".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4251960"/>
            <a:ext cx="461772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EF08A"/>
                </a:solidFill>
                <a:latin typeface="Nirmala UI"/>
              </a:defRPr>
            </a:pPr>
            <a:r>
              <a:t>ನನ್ನ ಬುಕಿಂಗ್‌ಗಳು ನಿರ್ವಹಣೆ:</a:t>
            </a:r>
          </a:p>
          <a:p>
            <a:pPr>
              <a:defRPr sz="1050">
                <a:solidFill>
                  <a:srgbClr val="CBD5E1"/>
                </a:solidFill>
                <a:latin typeface="Nirmala UI"/>
              </a:defRPr>
            </a:pPr>
            <a:r>
              <a:t>ಸಕ್ರಿಯ ಅಪಾಯಿಂಟ್‌ಮೆಂಟ್‌ಗಳ ಪಟ್ಟಿ, ದಿನಾಂಕ ಮರುಹೊಂದಿಸುವ (Reschedule) ಸೌಲಭ್ಯ.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5166360"/>
            <a:ext cx="461772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EF08A"/>
                </a:solidFill>
                <a:latin typeface="Nirmala UI"/>
              </a:defRPr>
            </a:pPr>
            <a:r>
              <a:t>ಸ್ವಯಂಚಾಲಿತ ಸ್ಲಾಟ್ ಬಿಡುಗಡೆ:</a:t>
            </a:r>
          </a:p>
          <a:p>
            <a:pPr>
              <a:defRPr sz="1050">
                <a:solidFill>
                  <a:srgbClr val="CBD5E1"/>
                </a:solidFill>
                <a:latin typeface="Nirmala UI"/>
              </a:defRPr>
            </a:pPr>
            <a:r>
              <a:t>ಅಪಾಯಿಂಟ್‌ಮೆಂಟ್ ರದ್ದು (Cancel) ಮಾಡಿದಾಗ ಬ್ಯಾಕೆಂಡ್‌ನಲ್ಲಿ ಆ ಸ್ಲಾಟ್ ಸ್ವಯಂಚಾಲಿತವಾಗಿ ಇತರ ರೋಗಿಗಳಿಗೆ ಮುಕ್ತವಾಗುತ್ತದೆ.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329184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EF08A"/>
                </a:solidFill>
                <a:latin typeface="Nirmala UI"/>
              </a:defRPr>
            </a:pPr>
            <a:r>
              <a:t>✨ ಕರ್ನಾಟಕ ನಾವೀನ್ಯತೆ • ೧೦೦% ಶುದ್ಧ ಕನ್ನಡ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irmala UI"/>
              </a:defRPr>
            </a:pPr>
            <a:r>
              <a:t>ದೈನಂದಿನ ಜೀವನದಲ್ಲಿ ಕನ್ನಡ ಕಲಿಕೆ &amp; ೧೦೮ ತುರ್ತು ಪ್ರೋಟೋಕಾಲ್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16152"/>
            <a:ext cx="107286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EEAD4"/>
                </a:solidFill>
                <a:latin typeface="Nirmala UI"/>
              </a:defRPr>
            </a:pPr>
            <a:r>
              <a:t>ನೈಜ ಭಾಷಾ ತರಬೇತಿ ಸಂಗಾತಿ ಮತ್ತು ಜೀವ ರಕ್ಷಣಾ ಸುರಕ್ಷತಾ ತಂತ್ರಜ್ಞಾನ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28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  <a:latin typeface="Nirmala UI"/>
              </a:defRPr>
            </a:pPr>
            <a:r>
              <a:t>ಹೀಲಿಯೋ (HEALIO) — ಕನ್ನಡ ದೈನಂದಿನ ಜೀವನದಲ್ಲಿ • ಕೈಮುಕ್ತ ಆಸ್ಪತ್ರೆ ಸೇವೆ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922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Nirmala UI"/>
              </a:defRPr>
            </a:pPr>
            <a:r>
              <a:t>👑 ಸಿರಿಗನ್ನಡಂ ಗೆಲ್ಗೆ, ಸಿರಿಗನ್ನಡಂ ಬಾಳ್ಗೆ! 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Nirmala UI"/>
              </a:defRPr>
            </a:pPr>
            <a:r>
              <a:t>ಪುಟ 6 / 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91640"/>
            <a:ext cx="5166360" cy="45262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874519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Nirmala UI"/>
              </a:defRPr>
            </a:pPr>
            <a:r>
              <a:t>🎓 ದೈನಂದಿನ ಜೀವನದಲ್ಲಿ ಕನ್ನಡ (Learning Center)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2423160"/>
            <a:ext cx="461772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EF08A"/>
                </a:solidFill>
                <a:latin typeface="Nirmala UI"/>
              </a:defRPr>
            </a:pPr>
            <a:r>
              <a:t>೫ ನೈಜ ಜೀವನದ ವಿಭಾಗಗಳು:</a:t>
            </a:r>
          </a:p>
          <a:p>
            <a:pPr>
              <a:defRPr sz="1050">
                <a:solidFill>
                  <a:srgbClr val="CBD5E1"/>
                </a:solidFill>
                <a:latin typeface="Nirmala UI"/>
              </a:defRPr>
            </a:pPr>
            <a:r>
              <a:t>🏥 ಆರೋಗ್ಯ  |  🚌 ಪ್ರಯಾಣ &amp; ಸಾರಿಗೆ  |  💊 ಔಷಧಾಲಯ &amp; ಶಾಪಿಂಗ್  |  🏢 ಕಚೇರಿ  |  🚨 ತುರ್ತು ಪರಿಸ್ಥಿತಿ.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337560"/>
            <a:ext cx="461772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EF08A"/>
                </a:solidFill>
                <a:latin typeface="Nirmala UI"/>
              </a:defRPr>
            </a:pPr>
            <a:r>
              <a:t>ಪ್ರಾಯೋಗಿಕ ನುಡಿಗಟ್ಟುಗಳು:</a:t>
            </a:r>
          </a:p>
          <a:p>
            <a:pPr>
              <a:defRPr sz="1050">
                <a:solidFill>
                  <a:srgbClr val="CBD5E1"/>
                </a:solidFill>
                <a:latin typeface="Nirmala UI"/>
              </a:defRPr>
            </a:pPr>
            <a:r>
              <a:t>"ಆಸ್ಪತ್ರೆಗೆ ಹೋಗಲು ಬಸ್ ಯಾವುದು?", "ಈ ಮಾತ್ರೆಗಳು ಲಭ್ಯವಿದೆಯೇ?", "ಆನ್‌ಲೈನ್ ಪಾವತಿ (UPI) ಮಾಡಬಹುದೇ?" ಮುಂತಾದವು.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251960"/>
            <a:ext cx="461772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EF08A"/>
                </a:solidFill>
                <a:latin typeface="Nirmala UI"/>
              </a:defRPr>
            </a:pPr>
            <a:r>
              <a:t>ಆಡಿಯೋ ಉಚ್ಚಾರಣೆ (Listen):</a:t>
            </a:r>
          </a:p>
          <a:p>
            <a:pPr>
              <a:defRPr sz="1050">
                <a:solidFill>
                  <a:srgbClr val="CBD5E1"/>
                </a:solidFill>
                <a:latin typeface="Nirmala UI"/>
              </a:defRPr>
            </a:pPr>
            <a:r>
              <a:t>ಪ್ರತಿಯೊಂದು ವಾಕ್ಯಕ್ಕೂ ಸ್ಪಷ್ಟ ಕನ್ನಡ ಧ್ವನಿ, ಇಂಗ್ಲಿಷ್ ಅರ್ಥ ಮತ್ತು ನೈಜ ಸಂದರ್ಭದ ವಿವರಣೆ.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5166360"/>
            <a:ext cx="461772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EF08A"/>
                </a:solidFill>
                <a:latin typeface="Nirmala UI"/>
              </a:defRPr>
            </a:pPr>
            <a:r>
              <a:t>ಲೈವ್ ಧ್ವನಿ ಅಭ್ಯಾಸ ಪರೀಕ್ಷೆ:</a:t>
            </a:r>
          </a:p>
          <a:p>
            <a:pPr>
              <a:defRPr sz="1050">
                <a:solidFill>
                  <a:srgbClr val="CBD5E1"/>
                </a:solidFill>
                <a:latin typeface="Nirmala UI"/>
              </a:defRPr>
            </a:pPr>
            <a:r>
              <a:t>ಬಳಕೆದಾರರು ಮಾತನಾಡಿ ಉಚ್ಚಾರಣೆ ಪರೀಕ್ಷಿಸಬಹುದು — 'ಶೇಕಡಾ ೯೬ ಹೊಂದಾಣಿಕೆ (Excellent Match)' ಫಲಿತಾಂಶ!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691640"/>
            <a:ext cx="5166360" cy="45262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874519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2626"/>
                </a:solidFill>
                <a:latin typeface="Nirmala UI"/>
              </a:defRPr>
            </a:pPr>
            <a:r>
              <a:t>🚨 ತುರ್ತು ೧೦೮ ಸುರಕ್ಷತಾ ಪ್ರೋಟೋಕಾಲ್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2423160"/>
            <a:ext cx="4617720" cy="822960"/>
          </a:xfrm>
          <a:prstGeom prst="roundRect">
            <a:avLst/>
          </a:prstGeom>
          <a:solidFill>
            <a:srgbClr val="1E1419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ECACA"/>
                </a:solidFill>
                <a:latin typeface="Nirmala UI"/>
              </a:defRPr>
            </a:pPr>
            <a:r>
              <a:t>ತುರ್ತು ಕೀವರ್ಡ್ ಪತ್ತೆ:</a:t>
            </a:r>
          </a:p>
          <a:p>
            <a:pPr>
              <a:defRPr sz="1050">
                <a:solidFill>
                  <a:srgbClr val="CBD5E1"/>
                </a:solidFill>
                <a:latin typeface="Nirmala UI"/>
              </a:defRPr>
            </a:pPr>
            <a:r>
              <a:t>ರೋಗಿ ಮಾತಿನಲ್ಲಿ 'ಎದೆ ನೋವು', 'ಉಸಿರಾಟದ ತೊಂದರೆ', 'ರಕ್ತಸ್ರಾವ', 'ಹೃದಯಾಘಾತ', 'ಪ್ರಜ್ಞೆ ತಪ್ಪಿದೆ' ಪದಗಳು ಕೇಳಿಬಂದಾಗ NLP ತಕ್ಷಣ ಎಚ್ಚೆತ್ತುಕೊಳ್ಳುತ್ತದೆ.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337560"/>
            <a:ext cx="4617720" cy="822960"/>
          </a:xfrm>
          <a:prstGeom prst="roundRect">
            <a:avLst/>
          </a:prstGeom>
          <a:solidFill>
            <a:srgbClr val="1E1419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ECACA"/>
                </a:solidFill>
                <a:latin typeface="Nirmala UI"/>
              </a:defRPr>
            </a:pPr>
            <a:r>
              <a:t>ಬುಕಿಂಗ್ ಪ್ರಕ್ರಿಯೆ ಸ್ಥಗಿತ:</a:t>
            </a:r>
          </a:p>
          <a:p>
            <a:pPr>
              <a:defRPr sz="1050">
                <a:solidFill>
                  <a:srgbClr val="CBD5E1"/>
                </a:solidFill>
                <a:latin typeface="Nirmala UI"/>
              </a:defRPr>
            </a:pPr>
            <a:r>
              <a:t>ಆನ್‌ಲೈನ್ ಅಪಾಯಿಂಟ್‌ಮೆಂಟ್ ಬುಕಿಂಗ್ ಅನ್ನು ತಕ್ಷಣ ನಿಲ್ಲಿಸಿ ಜೀವ ರಕ್ಷಣೆಗೆ ಮೊದಲ ಆದ್ಯತೆ ನೀಡಲಾಗುತ್ತದೆ.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4251960"/>
            <a:ext cx="4617720" cy="822960"/>
          </a:xfrm>
          <a:prstGeom prst="roundRect">
            <a:avLst/>
          </a:prstGeom>
          <a:solidFill>
            <a:srgbClr val="1E1419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ECACA"/>
                </a:solidFill>
                <a:latin typeface="Nirmala UI"/>
              </a:defRPr>
            </a:pPr>
            <a:r>
              <a:t>ಪೂರ್ಣ ಪರದೆಯ ತುರ್ತು ಎಚ್ಚರಿಕೆ:</a:t>
            </a:r>
          </a:p>
          <a:p>
            <a:pPr>
              <a:defRPr sz="1050">
                <a:solidFill>
                  <a:srgbClr val="CBD5E1"/>
                </a:solidFill>
                <a:latin typeface="Nirmala UI"/>
              </a:defRPr>
            </a:pPr>
            <a:r>
              <a:t>ಕೆಂಪು ಬಣ್ಣದ ತುರ್ತು ಪರದೆ ಮತ್ತು ಎಚ್ಚರಿಕೆಯ ಚೈಮ್ ಸೌಂಡ್ ತಕ್ಷಣ ಪ್ರದರ್ಶನಗೊಳ್ಳುತ್ತದೆ.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5166360"/>
            <a:ext cx="4617720" cy="822960"/>
          </a:xfrm>
          <a:prstGeom prst="roundRect">
            <a:avLst/>
          </a:prstGeom>
          <a:solidFill>
            <a:srgbClr val="1E1419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ECACA"/>
                </a:solidFill>
                <a:latin typeface="Nirmala UI"/>
              </a:defRPr>
            </a:pPr>
            <a:r>
              <a:t>ನೇರ ೧೦೮ ಆಂಬ್ಯುಲೆನ್ಸ್ ಡಯಲರ್:</a:t>
            </a:r>
          </a:p>
          <a:p>
            <a:pPr>
              <a:defRPr sz="1050">
                <a:solidFill>
                  <a:srgbClr val="CBD5E1"/>
                </a:solidFill>
                <a:latin typeface="Nirmala UI"/>
              </a:defRPr>
            </a:pPr>
            <a:r>
              <a:t>'📞 ೧೦೮ ಗೆ ಕರೆ ಮಾಡಿ' ಬಟನ್ ಮೂಲಕ ಉಚಿತ ಸರ್ಕಾರಿ ಆಂಬ್ಯುಲೆನ್ಸ್ ಸೇವೆಗೆ ನೇರ ಫೋನ್ ಸಂಪರ್ಕ.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329184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EF08A"/>
                </a:solidFill>
                <a:latin typeface="Nirmala UI"/>
              </a:defRPr>
            </a:pPr>
            <a:r>
              <a:t>✨ ಕರ್ನಾಟಕ ನಾವೀನ್ಯತೆ • ೧೦೦% ಶುದ್ಧ ಕನ್ನಡ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irmala UI"/>
              </a:defRPr>
            </a:pPr>
            <a:r>
              <a:t>ತಾಂತ್ರಿಕ ವಾಸ್ತುಶಿಲ್ಪ, ಪರೀಕ್ಷೆಗಳು &amp; ಸಮಾರೋಪ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16152"/>
            <a:ext cx="107286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EEAD4"/>
                </a:solidFill>
                <a:latin typeface="Nirmala UI"/>
              </a:defRPr>
            </a:pPr>
            <a:r>
              <a:t>ಶೂನ್ಯ-ಅವಲಂಬನೆ Node.js ಬ್ಯಾಕೆಂಡ್, WebGL ೩ಡಿ ಹಾಗೂ ೧೦೦% ಪರೀಕ್ಷಾ ಕವರೇಜ್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28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  <a:latin typeface="Nirmala UI"/>
              </a:defRPr>
            </a:pPr>
            <a:r>
              <a:t>ಹೀಲಿಯೋ (HEALIO) — ಕನ್ನಡ ದೈನಂದಿನ ಜೀವನದಲ್ಲಿ • ಕೈಮುಕ್ತ ಆಸ್ಪತ್ರೆ ಸೇವೆ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922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Nirmala UI"/>
              </a:defRPr>
            </a:pPr>
            <a:r>
              <a:t>👑 ಸಿರಿಗನ್ನಡಂ ಗೆಲ್ಗೆ, ಸಿರಿಗನ್ನಡಂ ಬಾಳ್ಗೆ! 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Nirmala UI"/>
              </a:defRPr>
            </a:pPr>
            <a:r>
              <a:t>ಪುಟ 7 / 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91640"/>
            <a:ext cx="3456432" cy="324612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1828800"/>
            <a:ext cx="3090672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Nirmala UI"/>
              </a:defRPr>
            </a:pPr>
            <a:r>
              <a:t>💻 ಶೂನ್ಯ-ಅವಲಂಬನೆ REST ಬ್ಯಾಕೆಂಡ್</a:t>
            </a:r>
          </a:p>
          <a:p>
            <a:pPr algn="ctr">
              <a:defRPr sz="1050" b="1">
                <a:solidFill>
                  <a:srgbClr val="14B8A6"/>
                </a:solidFill>
                <a:latin typeface="Nirmala UI"/>
              </a:defRPr>
            </a:pPr>
            <a:r>
              <a:t>Node.js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309067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4B8A6"/>
                </a:solidFill>
                <a:latin typeface="Nirmala UI"/>
              </a:rPr>
              <a:t>• ಸ್ಥಳೀಯ Node.js: </a:t>
            </a:r>
            <a:r>
              <a:rPr sz="1000">
                <a:solidFill>
                  <a:srgbClr val="CBD5E1"/>
                </a:solidFill>
                <a:latin typeface="Nirmala UI"/>
              </a:rPr>
              <a:t>ಯಾವುದೇ ಬಾಹ್ಯ npm ಲೈಬ್ರರಿಗಳಿಲ್ಲದೆ ಶುದ್ಧ Node.js (http, fs, path, url).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B8A6"/>
                </a:solidFill>
                <a:latin typeface="Nirmala UI"/>
              </a:rPr>
              <a:t>• REST API ಎಂಡ್‌ಪಾಯಿಂಟ್‌ಗಳು: </a:t>
            </a:r>
            <a:r>
              <a:rPr sz="1000">
                <a:solidFill>
                  <a:srgbClr val="CBD5E1"/>
                </a:solidFill>
                <a:latin typeface="Nirmala UI"/>
              </a:rPr>
              <a:t>GET /api/departments, GET /api/slots, POST /api/bookings, DELETE /api/bookings/:id.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B8A6"/>
                </a:solidFill>
                <a:latin typeface="Nirmala UI"/>
              </a:rPr>
              <a:t>• ಪರ್ಸಿಸ್ಟೆಂಟ್ JSON DB: </a:t>
            </a:r>
            <a:r>
              <a:rPr sz="1000">
                <a:solidFill>
                  <a:srgbClr val="CBD5E1"/>
                </a:solidFill>
                <a:latin typeface="Nirmala UI"/>
              </a:rPr>
              <a:t>bookings.json, availability.json, learn_phrases.json.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B8A6"/>
                </a:solidFill>
                <a:latin typeface="Nirmala UI"/>
              </a:rPr>
              <a:t>• ಸ್ಥಳೀಯ ಫಾಲ್‌ಬ್ಯಾಕ್: </a:t>
            </a:r>
            <a:r>
              <a:rPr sz="1000">
                <a:solidFill>
                  <a:srgbClr val="CBD5E1"/>
                </a:solidFill>
                <a:latin typeface="Nirmala UI"/>
              </a:rPr>
              <a:t>ಸರ್ವರ್ ಇಲ್ಲದಿದ್ದರೂ ಬ್ರೌಸರ್ localStorage ಮೂಲಕ ೧೦೦% ಆಫ್‌ಲೈನ್ ರನ್.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691640"/>
            <a:ext cx="3456432" cy="324612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53712" y="1828800"/>
            <a:ext cx="3090672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Nirmala UI"/>
              </a:defRPr>
            </a:pPr>
            <a:r>
              <a:t>🧪 ೩೫ ಸ್ವಯಂಚಾಲಿತ NLP ಪರೀಕ್ಷೆಗಳು</a:t>
            </a:r>
          </a:p>
          <a:p>
            <a:pPr algn="ctr">
              <a:defRPr sz="1050" b="1">
                <a:solidFill>
                  <a:srgbClr val="22C55E"/>
                </a:solidFill>
                <a:latin typeface="Nirmala UI"/>
              </a:defRPr>
            </a:pPr>
            <a:r>
              <a:t>100% Automated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560320"/>
            <a:ext cx="309067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22C55E"/>
                </a:solidFill>
                <a:latin typeface="Nirmala UI"/>
              </a:rPr>
              <a:t>• ಟೆಸ್ಟ್ ಸೂಟ್ (tests.html): </a:t>
            </a:r>
            <a:r>
              <a:rPr sz="1000">
                <a:solidFill>
                  <a:srgbClr val="CBD5E1"/>
                </a:solidFill>
                <a:latin typeface="Nirmala UI"/>
              </a:rPr>
              <a:t>ಕನ್ನಡ ನೈಸರ್ಗಿಕ ಭಾಷಾ ಸಂಸ್ಕರಣೆಯ ೩೫ ಯೂನಿಟ್ ಪರೀಕ್ಷೆಗಳು.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2C55E"/>
                </a:solidFill>
                <a:latin typeface="Nirmala UI"/>
              </a:rPr>
              <a:t>• ಇಂಟೆಂಟ್‌ಗಳ ಪರೀಕ್ಷೆ: </a:t>
            </a:r>
            <a:r>
              <a:rPr sz="1000">
                <a:solidFill>
                  <a:srgbClr val="CBD5E1"/>
                </a:solidFill>
                <a:latin typeface="Nirmala UI"/>
              </a:rPr>
              <a:t>book, cancel, reschedule, yes, no, help, emergency ೧೦೦% Pass.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2C55E"/>
                </a:solidFill>
                <a:latin typeface="Nirmala UI"/>
              </a:rPr>
              <a:t>• ಕನ್ನಡ ಅಂಕಿ &amp; ದಿನಾಂಕ: </a:t>
            </a:r>
            <a:r>
              <a:rPr sz="1000">
                <a:solidFill>
                  <a:srgbClr val="CBD5E1"/>
                </a:solidFill>
                <a:latin typeface="Nirmala UI"/>
              </a:rPr>
              <a:t>ಇಂದು, ನಾಳೆ, ದಿನಗಳು ಹಾಗೂ ಕನ್ನಡ ಅಂಕಿಗಳ ಸಮರ್ಥ ಪಾರ್ಸಿಂಗ್.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22C55E"/>
                </a:solidFill>
                <a:latin typeface="Nirmala UI"/>
              </a:rPr>
              <a:t>• ಟೈಪೋ ಸಹಿಷ್ಣುತೆ: </a:t>
            </a:r>
            <a:r>
              <a:rPr sz="1000">
                <a:solidFill>
                  <a:srgbClr val="CBD5E1"/>
                </a:solidFill>
                <a:latin typeface="Nirmala UI"/>
              </a:rPr>
              <a:t>ಲೆವೆನ್‌ಸ್ಟೈನ್ ದೂರ ಅಲ್ಗಾರಿದಮ್ ಮೂಲಕ ಅಕ್ಷರ ತಪ್ಪುಗಳಿದ್ದರೂ ನಿಖರ ಗ್ರಹಿಕೆ.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1691640"/>
            <a:ext cx="3456432" cy="324612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93024" y="1828800"/>
            <a:ext cx="3090672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Nirmala UI"/>
              </a:defRPr>
            </a:pPr>
            <a:r>
              <a:t>🌐 WebGL &amp; Three.js ೩ಡಿ ಎಂಜಿನ್</a:t>
            </a:r>
          </a:p>
          <a:p>
            <a:pPr algn="ctr">
              <a:defRPr sz="1050" b="1">
                <a:solidFill>
                  <a:srgbClr val="F59E0B"/>
                </a:solidFill>
                <a:latin typeface="Nirmala UI"/>
              </a:defRPr>
            </a:pPr>
            <a:r>
              <a:t>Interactive 3D Graphics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2560320"/>
            <a:ext cx="309067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F59E0B"/>
                </a:solidFill>
                <a:latin typeface="Nirmala UI"/>
              </a:rPr>
              <a:t>• Three.js r128 ಪವರ್ಡ್: </a:t>
            </a:r>
            <a:r>
              <a:rPr sz="1000">
                <a:solidFill>
                  <a:srgbClr val="CBD5E1"/>
                </a:solidFill>
                <a:latin typeface="Nirmala UI"/>
              </a:rPr>
              <a:t>ಹಾರ್ಡ್‌ವೇರ್ ಆಕ್ಸಲರೇಟೆಡ್ ೩ಡಿ ರೌಂಡೆಡ್ ಮೆಡಿಕಲ್ ಕ್ರಾಸ್.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F59E0B"/>
                </a:solidFill>
                <a:latin typeface="Nirmala UI"/>
              </a:rPr>
              <a:t>• ಶಾಂತ ಬೆಳಕಿನ ಸಂಯೋಜನೆ: </a:t>
            </a:r>
            <a:r>
              <a:rPr sz="1000">
                <a:solidFill>
                  <a:srgbClr val="CBD5E1"/>
                </a:solidFill>
                <a:latin typeface="Nirmala UI"/>
              </a:rPr>
              <a:t>ಟೀಲ್/ಸಯಾನ್ ಫೋನ್ ಮೆಟೀರಿಯಲ್ &amp; ೩ಡಿ ಹ್ಯಾಲೋ ರಿಂಗ್.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F59E0B"/>
                </a:solidFill>
                <a:latin typeface="Nirmala UI"/>
              </a:rPr>
              <a:t>• ಚಲನೆ ನಿಯಂತ್ರಣ: </a:t>
            </a:r>
            <a:r>
              <a:rPr sz="1000">
                <a:solidFill>
                  <a:srgbClr val="CBD5E1"/>
                </a:solidFill>
                <a:latin typeface="Nirmala UI"/>
              </a:rPr>
              <a:t>ಬಳಕೆದಾರರಿಗೆ ಚಲನೆ ನಿಲ್ಲಿಸಲು '⏸️ ಚಲನೆ ನಿಲ್ಲಿಸಿ' ಸ್ವಿಚ್ ಸೌಲಭ್ಯ.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F59E0B"/>
                </a:solidFill>
                <a:latin typeface="Nirmala UI"/>
              </a:rPr>
              <a:t>• ಸ್ವಯಂಚಾಲಿತ ಫಾಲ್‌ಬ್ಯಾಕ್: </a:t>
            </a:r>
            <a:r>
              <a:rPr sz="1000">
                <a:solidFill>
                  <a:srgbClr val="CBD5E1"/>
                </a:solidFill>
                <a:latin typeface="Nirmala UI"/>
              </a:rPr>
              <a:t>WebGL ಲಭ್ಯವಿಲ್ಲದಿದ್ದಲ್ಲಿ ಸುಂದರ CSS ಗ್ರೇಡಿಯಂಟ್ ಬ್ಯಾಕ್‌ಡ್ರಾಪ್.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120640"/>
            <a:ext cx="10728655" cy="1143000"/>
          </a:xfrm>
          <a:prstGeom prst="roundRect">
            <a:avLst/>
          </a:prstGeom>
          <a:solidFill>
            <a:srgbClr val="B91C1C"/>
          </a:solidFill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EF08A"/>
                </a:solidFill>
                <a:latin typeface="Nirmala UI"/>
              </a:defRPr>
            </a:pPr>
            <a:r>
              <a:t>👑 ಸಿರಿಗನ್ನಡಂ ಗೆಲ್ಗೆ, ಸಿರಿಗನ್ನಡಂ ಬಾಳ್ಗೆ! 👑</a:t>
            </a:r>
          </a:p>
          <a:p>
            <a:pPr algn="ctr">
              <a:defRPr sz="1500" b="1">
                <a:solidFill>
                  <a:srgbClr val="FFFFFF"/>
                </a:solidFill>
                <a:latin typeface="Nirmala UI"/>
              </a:defRPr>
            </a:pPr>
            <a:r>
              <a:t>ಹೀಲಿಯೋ — ತಂತ್ರಜ್ಞಾನದಲ್ಲಿ ಕನ್ನಡದ ಸಾರ್ಥಕ ಹೆಜ್ಜೆ • ಧನ್ಯವಾದಗಳು!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